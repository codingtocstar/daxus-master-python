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86" r:id="rId5"/>
    <p:sldId id="287" r:id="rId6"/>
    <p:sldId id="289" r:id="rId7"/>
    <p:sldId id="2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6FF"/>
    <a:srgbClr val="21A2F1"/>
    <a:srgbClr val="1C4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B6215-4D14-0B4A-AE64-9F23C7D179F7}" v="2" dt="2025-02-06T22:58:18.374"/>
    <p1510:client id="{726E21AC-C368-4E6F-A03C-680DF7A0BEDC}" v="65" dt="2025-02-06T22:51:54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19" autoAdjust="0"/>
    <p:restoredTop sz="91478"/>
  </p:normalViewPr>
  <p:slideViewPr>
    <p:cSldViewPr snapToGrid="0">
      <p:cViewPr varScale="1">
        <p:scale>
          <a:sx n="64" d="100"/>
          <a:sy n="64" d="100"/>
        </p:scale>
        <p:origin x="10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C77FD-0164-D142-92D0-E144A38691A3}" type="datetimeFigureOut">
              <a:rPr lang="es-CO" smtClean="0"/>
              <a:t>16/04/2025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D709E-C27C-EC43-BCDB-BCE910AC11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60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D709E-C27C-EC43-BCDB-BCE910AC11F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2296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D709E-C27C-EC43-BCDB-BCE910AC11F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58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D709E-C27C-EC43-BCDB-BCE910AC11F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9585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D709E-C27C-EC43-BCDB-BCE910AC11FA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101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652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7050D-C878-47A8-BC72-5289DF1183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3900" y="2209800"/>
            <a:ext cx="3098800" cy="3962400"/>
          </a:xfrm>
          <a:custGeom>
            <a:avLst/>
            <a:gdLst>
              <a:gd name="connsiteX0" fmla="*/ 0 w 4495800"/>
              <a:gd name="connsiteY0" fmla="*/ 0 h 6858000"/>
              <a:gd name="connsiteX1" fmla="*/ 4495800 w 4495800"/>
              <a:gd name="connsiteY1" fmla="*/ 0 h 6858000"/>
              <a:gd name="connsiteX2" fmla="*/ 4495800 w 4495800"/>
              <a:gd name="connsiteY2" fmla="*/ 6858000 h 6858000"/>
              <a:gd name="connsiteX3" fmla="*/ 0 w 4495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6858000">
                <a:moveTo>
                  <a:pt x="0" y="0"/>
                </a:moveTo>
                <a:lnTo>
                  <a:pt x="4495800" y="0"/>
                </a:lnTo>
                <a:lnTo>
                  <a:pt x="4495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9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7A7CD-8C20-C07F-0B09-DB8E70BB5F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1" y="2768601"/>
            <a:ext cx="3073158" cy="3383324"/>
          </a:xfrm>
          <a:custGeom>
            <a:avLst/>
            <a:gdLst>
              <a:gd name="connsiteX0" fmla="*/ 0 w 4495800"/>
              <a:gd name="connsiteY0" fmla="*/ 0 h 6858000"/>
              <a:gd name="connsiteX1" fmla="*/ 4495800 w 4495800"/>
              <a:gd name="connsiteY1" fmla="*/ 0 h 6858000"/>
              <a:gd name="connsiteX2" fmla="*/ 4495800 w 4495800"/>
              <a:gd name="connsiteY2" fmla="*/ 6858000 h 6858000"/>
              <a:gd name="connsiteX3" fmla="*/ 0 w 4495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6858000">
                <a:moveTo>
                  <a:pt x="0" y="0"/>
                </a:moveTo>
                <a:lnTo>
                  <a:pt x="4495800" y="0"/>
                </a:lnTo>
                <a:lnTo>
                  <a:pt x="4495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8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61AAA9-E195-52BC-EB49-4808E4FF47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96200" y="0"/>
            <a:ext cx="4495800" cy="6858000"/>
          </a:xfrm>
          <a:custGeom>
            <a:avLst/>
            <a:gdLst>
              <a:gd name="connsiteX0" fmla="*/ 0 w 4495800"/>
              <a:gd name="connsiteY0" fmla="*/ 0 h 6858000"/>
              <a:gd name="connsiteX1" fmla="*/ 4495800 w 4495800"/>
              <a:gd name="connsiteY1" fmla="*/ 0 h 6858000"/>
              <a:gd name="connsiteX2" fmla="*/ 4495800 w 4495800"/>
              <a:gd name="connsiteY2" fmla="*/ 6858000 h 6858000"/>
              <a:gd name="connsiteX3" fmla="*/ 0 w 4495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800" h="6858000">
                <a:moveTo>
                  <a:pt x="0" y="0"/>
                </a:moveTo>
                <a:lnTo>
                  <a:pt x="4495800" y="0"/>
                </a:lnTo>
                <a:lnTo>
                  <a:pt x="4495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7DAB2A-1EA7-3E4A-7300-F92D34F426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22900" y="2001475"/>
            <a:ext cx="1346200" cy="1346200"/>
          </a:xfrm>
          <a:custGeom>
            <a:avLst/>
            <a:gdLst>
              <a:gd name="connsiteX0" fmla="*/ 673100 w 1346200"/>
              <a:gd name="connsiteY0" fmla="*/ 0 h 1346200"/>
              <a:gd name="connsiteX1" fmla="*/ 1346200 w 1346200"/>
              <a:gd name="connsiteY1" fmla="*/ 673100 h 1346200"/>
              <a:gd name="connsiteX2" fmla="*/ 673100 w 1346200"/>
              <a:gd name="connsiteY2" fmla="*/ 1346200 h 1346200"/>
              <a:gd name="connsiteX3" fmla="*/ 0 w 1346200"/>
              <a:gd name="connsiteY3" fmla="*/ 673100 h 1346200"/>
              <a:gd name="connsiteX4" fmla="*/ 673100 w 1346200"/>
              <a:gd name="connsiteY4" fmla="*/ 0 h 134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00" h="1346200">
                <a:moveTo>
                  <a:pt x="673100" y="0"/>
                </a:moveTo>
                <a:cubicBezTo>
                  <a:pt x="1044843" y="0"/>
                  <a:pt x="1346200" y="301357"/>
                  <a:pt x="1346200" y="673100"/>
                </a:cubicBezTo>
                <a:cubicBezTo>
                  <a:pt x="1346200" y="1044843"/>
                  <a:pt x="1044843" y="1346200"/>
                  <a:pt x="673100" y="1346200"/>
                </a:cubicBezTo>
                <a:cubicBezTo>
                  <a:pt x="301357" y="1346200"/>
                  <a:pt x="0" y="1044843"/>
                  <a:pt x="0" y="673100"/>
                </a:cubicBezTo>
                <a:cubicBezTo>
                  <a:pt x="0" y="301357"/>
                  <a:pt x="301357" y="0"/>
                  <a:pt x="6731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5CB8292-2595-473B-680E-E0BB1D3CEE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24950" y="2001475"/>
            <a:ext cx="1346200" cy="1346200"/>
          </a:xfrm>
          <a:custGeom>
            <a:avLst/>
            <a:gdLst>
              <a:gd name="connsiteX0" fmla="*/ 673100 w 1346200"/>
              <a:gd name="connsiteY0" fmla="*/ 0 h 1346200"/>
              <a:gd name="connsiteX1" fmla="*/ 1346200 w 1346200"/>
              <a:gd name="connsiteY1" fmla="*/ 673100 h 1346200"/>
              <a:gd name="connsiteX2" fmla="*/ 673100 w 1346200"/>
              <a:gd name="connsiteY2" fmla="*/ 1346200 h 1346200"/>
              <a:gd name="connsiteX3" fmla="*/ 0 w 1346200"/>
              <a:gd name="connsiteY3" fmla="*/ 673100 h 1346200"/>
              <a:gd name="connsiteX4" fmla="*/ 673100 w 1346200"/>
              <a:gd name="connsiteY4" fmla="*/ 0 h 134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00" h="1346200">
                <a:moveTo>
                  <a:pt x="673100" y="0"/>
                </a:moveTo>
                <a:cubicBezTo>
                  <a:pt x="1044843" y="0"/>
                  <a:pt x="1346200" y="301357"/>
                  <a:pt x="1346200" y="673100"/>
                </a:cubicBezTo>
                <a:cubicBezTo>
                  <a:pt x="1346200" y="1044843"/>
                  <a:pt x="1044843" y="1346200"/>
                  <a:pt x="673100" y="1346200"/>
                </a:cubicBezTo>
                <a:cubicBezTo>
                  <a:pt x="301357" y="1346200"/>
                  <a:pt x="0" y="1044843"/>
                  <a:pt x="0" y="673100"/>
                </a:cubicBezTo>
                <a:cubicBezTo>
                  <a:pt x="0" y="301357"/>
                  <a:pt x="301357" y="0"/>
                  <a:pt x="6731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96BEB30-41B7-7B01-1702-5AC7F93FF6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850" y="2001475"/>
            <a:ext cx="1346200" cy="1346200"/>
          </a:xfrm>
          <a:custGeom>
            <a:avLst/>
            <a:gdLst>
              <a:gd name="connsiteX0" fmla="*/ 673100 w 1346200"/>
              <a:gd name="connsiteY0" fmla="*/ 0 h 1346200"/>
              <a:gd name="connsiteX1" fmla="*/ 1346200 w 1346200"/>
              <a:gd name="connsiteY1" fmla="*/ 673100 h 1346200"/>
              <a:gd name="connsiteX2" fmla="*/ 673100 w 1346200"/>
              <a:gd name="connsiteY2" fmla="*/ 1346200 h 1346200"/>
              <a:gd name="connsiteX3" fmla="*/ 0 w 1346200"/>
              <a:gd name="connsiteY3" fmla="*/ 673100 h 1346200"/>
              <a:gd name="connsiteX4" fmla="*/ 673100 w 1346200"/>
              <a:gd name="connsiteY4" fmla="*/ 0 h 134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00" h="1346200">
                <a:moveTo>
                  <a:pt x="673100" y="0"/>
                </a:moveTo>
                <a:cubicBezTo>
                  <a:pt x="1044843" y="0"/>
                  <a:pt x="1346200" y="301357"/>
                  <a:pt x="1346200" y="673100"/>
                </a:cubicBezTo>
                <a:cubicBezTo>
                  <a:pt x="1346200" y="1044843"/>
                  <a:pt x="1044843" y="1346200"/>
                  <a:pt x="673100" y="1346200"/>
                </a:cubicBezTo>
                <a:cubicBezTo>
                  <a:pt x="301357" y="1346200"/>
                  <a:pt x="0" y="1044843"/>
                  <a:pt x="0" y="673100"/>
                </a:cubicBezTo>
                <a:cubicBezTo>
                  <a:pt x="0" y="301357"/>
                  <a:pt x="301357" y="0"/>
                  <a:pt x="6731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7BCC3-599E-87C5-8890-1C1ADFD47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52600"/>
            <a:ext cx="10845800" cy="2908300"/>
          </a:xfrm>
          <a:custGeom>
            <a:avLst/>
            <a:gdLst>
              <a:gd name="connsiteX0" fmla="*/ 0 w 6096000"/>
              <a:gd name="connsiteY0" fmla="*/ 0 h 2577736"/>
              <a:gd name="connsiteX1" fmla="*/ 6096000 w 6096000"/>
              <a:gd name="connsiteY1" fmla="*/ 0 h 2577736"/>
              <a:gd name="connsiteX2" fmla="*/ 6096000 w 6096000"/>
              <a:gd name="connsiteY2" fmla="*/ 2577736 h 2577736"/>
              <a:gd name="connsiteX3" fmla="*/ 0 w 6096000"/>
              <a:gd name="connsiteY3" fmla="*/ 2577736 h 257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577736">
                <a:moveTo>
                  <a:pt x="0" y="0"/>
                </a:moveTo>
                <a:lnTo>
                  <a:pt x="6096000" y="0"/>
                </a:lnTo>
                <a:lnTo>
                  <a:pt x="6096000" y="2577736"/>
                </a:lnTo>
                <a:lnTo>
                  <a:pt x="0" y="257773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0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476115-EA7E-B3B9-1F1C-253079BB5B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2577736"/>
          </a:xfrm>
          <a:custGeom>
            <a:avLst/>
            <a:gdLst>
              <a:gd name="connsiteX0" fmla="*/ 0 w 6096000"/>
              <a:gd name="connsiteY0" fmla="*/ 0 h 2577736"/>
              <a:gd name="connsiteX1" fmla="*/ 6096000 w 6096000"/>
              <a:gd name="connsiteY1" fmla="*/ 0 h 2577736"/>
              <a:gd name="connsiteX2" fmla="*/ 6096000 w 6096000"/>
              <a:gd name="connsiteY2" fmla="*/ 2577736 h 2577736"/>
              <a:gd name="connsiteX3" fmla="*/ 0 w 6096000"/>
              <a:gd name="connsiteY3" fmla="*/ 2577736 h 257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577736">
                <a:moveTo>
                  <a:pt x="0" y="0"/>
                </a:moveTo>
                <a:lnTo>
                  <a:pt x="6096000" y="0"/>
                </a:lnTo>
                <a:lnTo>
                  <a:pt x="6096000" y="2577736"/>
                </a:lnTo>
                <a:lnTo>
                  <a:pt x="0" y="257773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2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F97D9C6-6821-AB9D-4416-9D4AAD5584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47000" y="1995296"/>
            <a:ext cx="4445000" cy="4862704"/>
          </a:xfrm>
          <a:custGeom>
            <a:avLst/>
            <a:gdLst>
              <a:gd name="connsiteX0" fmla="*/ 0 w 4445000"/>
              <a:gd name="connsiteY0" fmla="*/ 0 h 4862704"/>
              <a:gd name="connsiteX1" fmla="*/ 4445000 w 4445000"/>
              <a:gd name="connsiteY1" fmla="*/ 0 h 4862704"/>
              <a:gd name="connsiteX2" fmla="*/ 4445000 w 4445000"/>
              <a:gd name="connsiteY2" fmla="*/ 4862704 h 4862704"/>
              <a:gd name="connsiteX3" fmla="*/ 0 w 4445000"/>
              <a:gd name="connsiteY3" fmla="*/ 4862704 h 486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5000" h="4862704">
                <a:moveTo>
                  <a:pt x="0" y="0"/>
                </a:moveTo>
                <a:lnTo>
                  <a:pt x="4445000" y="0"/>
                </a:lnTo>
                <a:lnTo>
                  <a:pt x="4445000" y="4862704"/>
                </a:lnTo>
                <a:lnTo>
                  <a:pt x="0" y="486270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5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A7A9456-C335-9038-701E-94C7E6D491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4445000"/>
              <a:gd name="connsiteY0" fmla="*/ 0 h 4862704"/>
              <a:gd name="connsiteX1" fmla="*/ 4445000 w 4445000"/>
              <a:gd name="connsiteY1" fmla="*/ 0 h 4862704"/>
              <a:gd name="connsiteX2" fmla="*/ 4445000 w 4445000"/>
              <a:gd name="connsiteY2" fmla="*/ 4862704 h 4862704"/>
              <a:gd name="connsiteX3" fmla="*/ 0 w 4445000"/>
              <a:gd name="connsiteY3" fmla="*/ 4862704 h 486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5000" h="4862704">
                <a:moveTo>
                  <a:pt x="0" y="0"/>
                </a:moveTo>
                <a:lnTo>
                  <a:pt x="4445000" y="0"/>
                </a:lnTo>
                <a:lnTo>
                  <a:pt x="4445000" y="4862704"/>
                </a:lnTo>
                <a:lnTo>
                  <a:pt x="0" y="486270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6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235DE7-9BD6-4CFF-7FCC-FBD113E72B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44915" y="2254861"/>
            <a:ext cx="3194958" cy="3768569"/>
          </a:xfrm>
          <a:custGeom>
            <a:avLst/>
            <a:gdLst>
              <a:gd name="connsiteX0" fmla="*/ 0 w 3194958"/>
              <a:gd name="connsiteY0" fmla="*/ 0 h 3768569"/>
              <a:gd name="connsiteX1" fmla="*/ 3194958 w 3194958"/>
              <a:gd name="connsiteY1" fmla="*/ 0 h 3768569"/>
              <a:gd name="connsiteX2" fmla="*/ 3194958 w 3194958"/>
              <a:gd name="connsiteY2" fmla="*/ 3768569 h 3768569"/>
              <a:gd name="connsiteX3" fmla="*/ 0 w 3194958"/>
              <a:gd name="connsiteY3" fmla="*/ 3768569 h 376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958" h="3768569">
                <a:moveTo>
                  <a:pt x="0" y="0"/>
                </a:moveTo>
                <a:lnTo>
                  <a:pt x="3194958" y="0"/>
                </a:lnTo>
                <a:lnTo>
                  <a:pt x="3194958" y="3768569"/>
                </a:lnTo>
                <a:lnTo>
                  <a:pt x="0" y="376856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1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30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F271895-8111-D1F5-0714-9E4D466DE206}"/>
              </a:ext>
            </a:extLst>
          </p:cNvPr>
          <p:cNvSpPr/>
          <p:nvPr/>
        </p:nvSpPr>
        <p:spPr>
          <a:xfrm>
            <a:off x="0" y="613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32D9DD14-827C-E14D-D3E6-B89647BF6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74" y="-1584426"/>
            <a:ext cx="10026853" cy="10026853"/>
          </a:xfrm>
          <a:prstGeom prst="ellipse">
            <a:avLst/>
          </a:prstGeom>
          <a:noFill/>
          <a:ln w="25400" cap="flat">
            <a:solidFill>
              <a:schemeClr val="accent1">
                <a:lumMod val="60000"/>
                <a:lumOff val="40000"/>
                <a:alpha val="2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0972FCF4-0617-7AA7-BBEF-E91C1A1FD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258" y="37907"/>
            <a:ext cx="6786836" cy="6786836"/>
          </a:xfrm>
          <a:prstGeom prst="ellipse">
            <a:avLst/>
          </a:prstGeom>
          <a:noFill/>
          <a:ln w="25400" cap="flat">
            <a:solidFill>
              <a:schemeClr val="accent1">
                <a:lumMod val="60000"/>
                <a:lumOff val="40000"/>
                <a:alpha val="2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43FCFC5-687F-4A94-1921-EE5CF9B6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29" y="1065229"/>
            <a:ext cx="4727543" cy="4727543"/>
          </a:xfrm>
          <a:prstGeom prst="ellipse">
            <a:avLst/>
          </a:prstGeom>
          <a:noFill/>
          <a:ln w="25400" cap="flat">
            <a:solidFill>
              <a:schemeClr val="accent1">
                <a:lumMod val="60000"/>
                <a:lumOff val="40000"/>
                <a:alpha val="2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8">
            <a:extLst>
              <a:ext uri="{FF2B5EF4-FFF2-40B4-BE49-F238E27FC236}">
                <a16:creationId xmlns:a16="http://schemas.microsoft.com/office/drawing/2014/main" id="{07F85254-3967-4214-704B-422627915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670" y="1720670"/>
            <a:ext cx="3416661" cy="3416661"/>
          </a:xfrm>
          <a:prstGeom prst="ellipse">
            <a:avLst/>
          </a:prstGeom>
          <a:noFill/>
          <a:ln w="25400" cap="flat">
            <a:solidFill>
              <a:schemeClr val="accent1">
                <a:lumMod val="60000"/>
                <a:lumOff val="40000"/>
                <a:alpha val="2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75578BB1-E556-7E06-B54F-70DECD53B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542" y="2436542"/>
            <a:ext cx="1984917" cy="1984917"/>
          </a:xfrm>
          <a:prstGeom prst="ellipse">
            <a:avLst/>
          </a:prstGeom>
          <a:noFill/>
          <a:ln w="25400" cap="flat">
            <a:solidFill>
              <a:schemeClr val="accent1">
                <a:lumMod val="60000"/>
                <a:lumOff val="40000"/>
                <a:alpha val="2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10982-DACD-1389-67CD-72A8C64416D4}"/>
              </a:ext>
            </a:extLst>
          </p:cNvPr>
          <p:cNvSpPr txBox="1"/>
          <p:nvPr/>
        </p:nvSpPr>
        <p:spPr>
          <a:xfrm>
            <a:off x="0" y="2648442"/>
            <a:ext cx="12200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La Terminal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B43DC0-C06A-C44C-5600-D53FDEAAE000}"/>
              </a:ext>
            </a:extLst>
          </p:cNvPr>
          <p:cNvSpPr/>
          <p:nvPr/>
        </p:nvSpPr>
        <p:spPr>
          <a:xfrm>
            <a:off x="6042651" y="6143184"/>
            <a:ext cx="106697" cy="1066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AD8E712-2617-49A9-5785-2F6EBD099080}"/>
              </a:ext>
            </a:extLst>
          </p:cNvPr>
          <p:cNvSpPr/>
          <p:nvPr/>
        </p:nvSpPr>
        <p:spPr>
          <a:xfrm>
            <a:off x="5901885" y="6151786"/>
            <a:ext cx="89492" cy="89492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6F27BFC-6A6E-2178-2E94-C3129DF9AD7C}"/>
              </a:ext>
            </a:extLst>
          </p:cNvPr>
          <p:cNvSpPr/>
          <p:nvPr/>
        </p:nvSpPr>
        <p:spPr>
          <a:xfrm>
            <a:off x="6200623" y="6151786"/>
            <a:ext cx="89492" cy="89492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CF0F0F36-5429-5B0B-3CDF-6A75DA1D38BD}"/>
              </a:ext>
            </a:extLst>
          </p:cNvPr>
          <p:cNvSpPr txBox="1"/>
          <p:nvPr/>
        </p:nvSpPr>
        <p:spPr>
          <a:xfrm>
            <a:off x="3794352" y="3778672"/>
            <a:ext cx="4603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</a:t>
            </a:r>
            <a:endParaRPr lang="en-US" sz="3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39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213422-E239-FD3B-B980-D2F85C1DFB44}"/>
              </a:ext>
            </a:extLst>
          </p:cNvPr>
          <p:cNvSpPr/>
          <p:nvPr/>
        </p:nvSpPr>
        <p:spPr>
          <a:xfrm>
            <a:off x="714417" y="463480"/>
            <a:ext cx="10186666" cy="61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sz="24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LA </a:t>
            </a:r>
            <a:r>
              <a:rPr lang="en-US" sz="24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TERMINAL </a:t>
            </a:r>
            <a:r>
              <a:rPr lang="en-US" sz="24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(CONSOLA - LÍNEA DE COMANDO)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D4371DB2-3B7F-21CB-078A-4433201B76C0}"/>
              </a:ext>
            </a:extLst>
          </p:cNvPr>
          <p:cNvSpPr/>
          <p:nvPr/>
        </p:nvSpPr>
        <p:spPr>
          <a:xfrm>
            <a:off x="884718" y="4525879"/>
            <a:ext cx="45172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Herramienta que permite interactuar con el </a:t>
            </a:r>
            <a:r>
              <a:rPr lang="es-CO" sz="13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SO</a:t>
            </a: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de tu computador de manera </a:t>
            </a:r>
            <a:r>
              <a:rPr lang="es-CO" sz="13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textual</a:t>
            </a: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, en lugar de usar una interfaz gráfica como las ventanas, botones y menús a los que estamos acostumbrados.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51C78B-0549-49DB-15A5-B7BB30949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31" y="1949790"/>
            <a:ext cx="2115655" cy="2150916"/>
          </a:xfrm>
          <a:prstGeom prst="rect">
            <a:avLst/>
          </a:prstGeom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E0D9CC92-926F-FFCE-65C5-4598E78CA598}"/>
              </a:ext>
            </a:extLst>
          </p:cNvPr>
          <p:cNvSpPr/>
          <p:nvPr/>
        </p:nvSpPr>
        <p:spPr>
          <a:xfrm>
            <a:off x="6096000" y="5044887"/>
            <a:ext cx="5260067" cy="10535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E07F55C3-8CA0-EC1D-C4ED-227DCF056002}"/>
              </a:ext>
            </a:extLst>
          </p:cNvPr>
          <p:cNvSpPr/>
          <p:nvPr/>
        </p:nvSpPr>
        <p:spPr>
          <a:xfrm>
            <a:off x="6158392" y="3810048"/>
            <a:ext cx="5260067" cy="1053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CE750F2-F98F-8DB4-5ED5-C8EA6E53AD7C}"/>
              </a:ext>
            </a:extLst>
          </p:cNvPr>
          <p:cNvSpPr/>
          <p:nvPr/>
        </p:nvSpPr>
        <p:spPr>
          <a:xfrm>
            <a:off x="6158392" y="2544304"/>
            <a:ext cx="5260067" cy="10535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8C3A989-D329-F0E0-68DA-CAFD35568B05}"/>
              </a:ext>
            </a:extLst>
          </p:cNvPr>
          <p:cNvSpPr/>
          <p:nvPr/>
        </p:nvSpPr>
        <p:spPr>
          <a:xfrm>
            <a:off x="6158392" y="1278560"/>
            <a:ext cx="5260067" cy="1053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4B243EBB-0944-3C60-51CD-FA182058BAF1}"/>
              </a:ext>
            </a:extLst>
          </p:cNvPr>
          <p:cNvSpPr/>
          <p:nvPr/>
        </p:nvSpPr>
        <p:spPr>
          <a:xfrm>
            <a:off x="7400723" y="1647393"/>
            <a:ext cx="4017736" cy="365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Navegar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por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el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Sistema de </a:t>
            </a: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archivos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4A9B3123-D295-3C74-6692-07667C33469B}"/>
              </a:ext>
            </a:extLst>
          </p:cNvPr>
          <p:cNvSpPr/>
          <p:nvPr/>
        </p:nvSpPr>
        <p:spPr>
          <a:xfrm>
            <a:off x="6518526" y="1517774"/>
            <a:ext cx="575132" cy="57513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008C6F83-B981-F690-DC2E-3CF85B6A88A8}"/>
              </a:ext>
            </a:extLst>
          </p:cNvPr>
          <p:cNvSpPr/>
          <p:nvPr/>
        </p:nvSpPr>
        <p:spPr>
          <a:xfrm>
            <a:off x="7400723" y="2748175"/>
            <a:ext cx="3852734" cy="645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s-CO" sz="16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Crear, copiar, mover o borrar archivos y carpetas.</a:t>
            </a:r>
            <a:endParaRPr lang="en-US" sz="16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22E99000-82DE-B7CD-ED7F-31752F96EB18}"/>
              </a:ext>
            </a:extLst>
          </p:cNvPr>
          <p:cNvSpPr/>
          <p:nvPr/>
        </p:nvSpPr>
        <p:spPr>
          <a:xfrm>
            <a:off x="6518526" y="2804493"/>
            <a:ext cx="575132" cy="5751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44D9858F-7535-359C-9EE3-9AFBD1256C78}"/>
              </a:ext>
            </a:extLst>
          </p:cNvPr>
          <p:cNvSpPr/>
          <p:nvPr/>
        </p:nvSpPr>
        <p:spPr>
          <a:xfrm>
            <a:off x="7400723" y="4178760"/>
            <a:ext cx="3699726" cy="365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Gestionar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60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el</a:t>
            </a:r>
            <a:r>
              <a:rPr lang="en-U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SO.</a:t>
            </a:r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B771CDCE-0B87-1DA5-DA44-AB37255BDA12}"/>
              </a:ext>
            </a:extLst>
          </p:cNvPr>
          <p:cNvSpPr/>
          <p:nvPr/>
        </p:nvSpPr>
        <p:spPr>
          <a:xfrm>
            <a:off x="6518526" y="4074933"/>
            <a:ext cx="575132" cy="57513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25458307-4EEF-D06C-1B5B-EECBFD608BDF}"/>
              </a:ext>
            </a:extLst>
          </p:cNvPr>
          <p:cNvSpPr/>
          <p:nvPr/>
        </p:nvSpPr>
        <p:spPr>
          <a:xfrm>
            <a:off x="7400723" y="5421881"/>
            <a:ext cx="3409255" cy="365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Ejecutar</a:t>
            </a:r>
            <a:r>
              <a:rPr lang="en-US" sz="16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programas</a:t>
            </a:r>
            <a:r>
              <a:rPr lang="en-US" sz="16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o scripts.</a:t>
            </a:r>
            <a:endParaRPr lang="en-US" sz="160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1" name="Oval 20">
            <a:extLst>
              <a:ext uri="{FF2B5EF4-FFF2-40B4-BE49-F238E27FC236}">
                <a16:creationId xmlns:a16="http://schemas.microsoft.com/office/drawing/2014/main" id="{5A8B3A3C-FE12-6FA2-94A8-A97F9A2C73C0}"/>
              </a:ext>
            </a:extLst>
          </p:cNvPr>
          <p:cNvSpPr/>
          <p:nvPr/>
        </p:nvSpPr>
        <p:spPr>
          <a:xfrm>
            <a:off x="6516138" y="5315005"/>
            <a:ext cx="575132" cy="5751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B927229-F10A-9709-45AC-71C90F999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5612" y="2693373"/>
            <a:ext cx="736183" cy="75692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77FDF66B-011E-B706-41C7-969DBD4AD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5611" y="3983043"/>
            <a:ext cx="736183" cy="75692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B2DC4850-8051-48E0-1F87-379B86FDB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5611" y="5200979"/>
            <a:ext cx="736183" cy="75692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CF154F2-8B23-0B34-C51C-8DE700E2D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2714" y="1422933"/>
            <a:ext cx="736183" cy="75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6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213422-E239-FD3B-B980-D2F85C1DFB44}"/>
              </a:ext>
            </a:extLst>
          </p:cNvPr>
          <p:cNvSpPr/>
          <p:nvPr/>
        </p:nvSpPr>
        <p:spPr>
          <a:xfrm>
            <a:off x="714417" y="463480"/>
            <a:ext cx="10186666" cy="61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sz="24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VENTAJAS</a:t>
            </a:r>
            <a:r>
              <a:rPr lang="en-US" sz="24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DEL USO DE LA </a:t>
            </a:r>
            <a:r>
              <a:rPr lang="en-US" sz="24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TERMINAL</a:t>
            </a:r>
            <a:endParaRPr lang="en-US" sz="24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D4371DB2-3B7F-21CB-078A-4433201B76C0}"/>
              </a:ext>
            </a:extLst>
          </p:cNvPr>
          <p:cNvSpPr/>
          <p:nvPr/>
        </p:nvSpPr>
        <p:spPr>
          <a:xfrm>
            <a:off x="884718" y="4525879"/>
            <a:ext cx="45172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Herramienta que permite interactuar con el </a:t>
            </a:r>
            <a:r>
              <a:rPr lang="es-CO" sz="13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SO</a:t>
            </a: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de tu computador de manera </a:t>
            </a:r>
            <a:r>
              <a:rPr lang="es-CO" sz="13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textual</a:t>
            </a:r>
            <a:r>
              <a:rPr lang="es-CO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, en lugar de usar una interfaz gráfica como las ventanas, botones y menús a los que estamos acostumbrados.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51C78B-0549-49DB-15A5-B7BB30949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31" y="1949790"/>
            <a:ext cx="2115655" cy="2150916"/>
          </a:xfrm>
          <a:prstGeom prst="rect">
            <a:avLst/>
          </a:prstGeom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E07F55C3-8CA0-EC1D-C4ED-227DCF056002}"/>
              </a:ext>
            </a:extLst>
          </p:cNvPr>
          <p:cNvSpPr/>
          <p:nvPr/>
        </p:nvSpPr>
        <p:spPr>
          <a:xfrm>
            <a:off x="6230820" y="4672647"/>
            <a:ext cx="5260067" cy="1053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CE750F2-F98F-8DB4-5ED5-C8EA6E53AD7C}"/>
              </a:ext>
            </a:extLst>
          </p:cNvPr>
          <p:cNvSpPr/>
          <p:nvPr/>
        </p:nvSpPr>
        <p:spPr>
          <a:xfrm>
            <a:off x="6230820" y="3071085"/>
            <a:ext cx="5260067" cy="10535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8C3A989-D329-F0E0-68DA-CAFD35568B05}"/>
              </a:ext>
            </a:extLst>
          </p:cNvPr>
          <p:cNvSpPr/>
          <p:nvPr/>
        </p:nvSpPr>
        <p:spPr>
          <a:xfrm>
            <a:off x="6230820" y="1467610"/>
            <a:ext cx="5260067" cy="1053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4B243EBB-0944-3C60-51CD-FA182058BAF1}"/>
              </a:ext>
            </a:extLst>
          </p:cNvPr>
          <p:cNvSpPr/>
          <p:nvPr/>
        </p:nvSpPr>
        <p:spPr>
          <a:xfrm>
            <a:off x="7473151" y="1530294"/>
            <a:ext cx="4106960" cy="929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s-CO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Velocidad: las tareas se pueden hacer mucho más rápido con comandos en la terminal.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4A9B3123-D295-3C74-6692-07667C33469B}"/>
              </a:ext>
            </a:extLst>
          </p:cNvPr>
          <p:cNvSpPr/>
          <p:nvPr/>
        </p:nvSpPr>
        <p:spPr>
          <a:xfrm>
            <a:off x="6590954" y="1706824"/>
            <a:ext cx="575132" cy="57513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008C6F83-B981-F690-DC2E-3CF85B6A88A8}"/>
              </a:ext>
            </a:extLst>
          </p:cNvPr>
          <p:cNvSpPr/>
          <p:nvPr/>
        </p:nvSpPr>
        <p:spPr>
          <a:xfrm>
            <a:off x="7473151" y="3153969"/>
            <a:ext cx="3852734" cy="929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s-CO" sz="16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Automatización: ejecución de scripts automáticamente  para tareas repetitiva.</a:t>
            </a:r>
            <a:endParaRPr lang="en-US" sz="16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22E99000-82DE-B7CD-ED7F-31752F96EB18}"/>
              </a:ext>
            </a:extLst>
          </p:cNvPr>
          <p:cNvSpPr/>
          <p:nvPr/>
        </p:nvSpPr>
        <p:spPr>
          <a:xfrm>
            <a:off x="6590954" y="3331274"/>
            <a:ext cx="575132" cy="5751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44D9858F-7535-359C-9EE3-9AFBD1256C78}"/>
              </a:ext>
            </a:extLst>
          </p:cNvPr>
          <p:cNvSpPr/>
          <p:nvPr/>
        </p:nvSpPr>
        <p:spPr>
          <a:xfrm>
            <a:off x="7473151" y="4742250"/>
            <a:ext cx="3906559" cy="914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s-CO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Control total SO: acceso a configuraciones y herramientas del SO que no siempre están disponibles a través de la interfaz gráfica.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B771CDCE-0B87-1DA5-DA44-AB37255BDA12}"/>
              </a:ext>
            </a:extLst>
          </p:cNvPr>
          <p:cNvSpPr/>
          <p:nvPr/>
        </p:nvSpPr>
        <p:spPr>
          <a:xfrm>
            <a:off x="6590954" y="4937532"/>
            <a:ext cx="575132" cy="57513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B927229-F10A-9709-45AC-71C90F999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8040" y="3220154"/>
            <a:ext cx="736183" cy="75692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77FDF66B-011E-B706-41C7-969DBD4AD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8039" y="4845642"/>
            <a:ext cx="736183" cy="75692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CF154F2-8B23-0B34-C51C-8DE700E2D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5142" y="1611983"/>
            <a:ext cx="736183" cy="75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4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213422-E239-FD3B-B980-D2F85C1DFB44}"/>
              </a:ext>
            </a:extLst>
          </p:cNvPr>
          <p:cNvSpPr/>
          <p:nvPr/>
        </p:nvSpPr>
        <p:spPr>
          <a:xfrm>
            <a:off x="714417" y="463480"/>
            <a:ext cx="10186666" cy="61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</a:pPr>
            <a:r>
              <a:rPr lang="en-US" sz="24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COMANDOS</a:t>
            </a:r>
            <a:r>
              <a:rPr lang="en-US" sz="2400" dirty="0">
                <a:latin typeface="Poppins SemiBold" panose="00000700000000000000" pitchFamily="50" charset="0"/>
                <a:cs typeface="Poppins SemiBold" panose="00000700000000000000" pitchFamily="50" charset="0"/>
              </a:rPr>
              <a:t> MÁS COMUNES DESDE LA </a:t>
            </a:r>
            <a:r>
              <a:rPr lang="en-US" sz="2400" dirty="0">
                <a:solidFill>
                  <a:schemeClr val="accent1"/>
                </a:solidFill>
                <a:latin typeface="Poppins SemiBold" panose="00000700000000000000" pitchFamily="50" charset="0"/>
                <a:cs typeface="Poppins SemiBold" panose="00000700000000000000" pitchFamily="50" charset="0"/>
              </a:rPr>
              <a:t>TERMINAL</a:t>
            </a:r>
            <a:endParaRPr lang="en-US" sz="2400" dirty="0">
              <a:latin typeface="Poppins SemiBold" panose="00000700000000000000" pitchFamily="50" charset="0"/>
              <a:cs typeface="Poppins SemiBold" panose="00000700000000000000" pitchFamily="50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ADE891E-6D49-AE45-75BD-F306A3430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12945"/>
              </p:ext>
            </p:extLst>
          </p:nvPr>
        </p:nvGraphicFramePr>
        <p:xfrm>
          <a:off x="1743750" y="1760815"/>
          <a:ext cx="8127999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235903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617318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69503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latin typeface=""/>
                        </a:rPr>
                        <a:t>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kern="1200" dirty="0">
                          <a:solidFill>
                            <a:schemeClr val="lt1"/>
                          </a:solidFill>
                          <a:latin typeface=""/>
                          <a:ea typeface="+mn-ea"/>
                          <a:cs typeface="+mn-cs"/>
                        </a:rPr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b="1" kern="1200" dirty="0">
                          <a:solidFill>
                            <a:schemeClr val="lt1"/>
                          </a:solidFill>
                          <a:latin typeface=""/>
                          <a:ea typeface="+mn-ea"/>
                          <a:cs typeface="+mn-cs"/>
                        </a:rPr>
                        <a:t>macOS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Navegar entre carpetas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cd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cd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03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Ver el contenido de una carpeta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dir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ls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5539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Volver a la carpeta anterior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cd 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cd 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99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Crear una carpeta nueva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mkdir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mkdir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24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Crear un archivo nuevo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echo &gt;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archivo.txt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touch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archivo.txt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46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Eliminar una carpeta vacía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rmdir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rmdir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80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Eliminar una carpeta no vacía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rmdir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/S /Q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rm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-r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nombre_carpeta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25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Eliminar un archivo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del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archivo.txt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rm</a:t>
                      </a:r>
                      <a:r>
                        <a:rPr lang="es-CO" sz="1800" i="1" kern="1200" dirty="0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 </a:t>
                      </a:r>
                      <a:r>
                        <a:rPr lang="es-CO" sz="1800" i="1" kern="1200" dirty="0" err="1">
                          <a:solidFill>
                            <a:schemeClr val="dk1"/>
                          </a:solidFill>
                          <a:latin typeface=""/>
                          <a:ea typeface="+mn-ea"/>
                          <a:cs typeface="+mn-cs"/>
                        </a:rPr>
                        <a:t>archivo.txt</a:t>
                      </a:r>
                      <a:endParaRPr lang="es-CO" sz="1800" i="1" kern="1200" dirty="0">
                        <a:solidFill>
                          <a:schemeClr val="dk1"/>
                        </a:solidFill>
                        <a:latin typeface="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21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9924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4">
  <a:themeElements>
    <a:clrScheme name="Custom 17">
      <a:dk1>
        <a:sysClr val="windowText" lastClr="000000"/>
      </a:dk1>
      <a:lt1>
        <a:sysClr val="window" lastClr="FFFFFF"/>
      </a:lt1>
      <a:dk2>
        <a:srgbClr val="323232"/>
      </a:dk2>
      <a:lt2>
        <a:srgbClr val="FFFFFF"/>
      </a:lt2>
      <a:accent1>
        <a:srgbClr val="1C46F2"/>
      </a:accent1>
      <a:accent2>
        <a:srgbClr val="5186C5"/>
      </a:accent2>
      <a:accent3>
        <a:srgbClr val="5ABCAD"/>
      </a:accent3>
      <a:accent4>
        <a:srgbClr val="A2D0A7"/>
      </a:accent4>
      <a:accent5>
        <a:srgbClr val="343C43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4" id="{F8315113-EBCF-42C7-B185-8ED58241DCE3}" vid="{4C339641-2D88-449A-889C-4AC9370BEB9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bfbbe5-dde2-44de-9f21-ac6843a2f446">
      <Terms xmlns="http://schemas.microsoft.com/office/infopath/2007/PartnerControls"/>
    </lcf76f155ced4ddcb4097134ff3c332f>
    <_Flow_SignoffStatus xmlns="50bfbbe5-dde2-44de-9f21-ac6843a2f446" xsi:nil="true"/>
    <TaxCatchAll xmlns="b0cdbee2-4222-4e14-b311-215d0b61546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F15AC727A08C4391800AEE1B292066" ma:contentTypeVersion="14" ma:contentTypeDescription="Crear nuevo documento." ma:contentTypeScope="" ma:versionID="719106a8cd6f79e35103784aef87e472">
  <xsd:schema xmlns:xsd="http://www.w3.org/2001/XMLSchema" xmlns:xs="http://www.w3.org/2001/XMLSchema" xmlns:p="http://schemas.microsoft.com/office/2006/metadata/properties" xmlns:ns2="50bfbbe5-dde2-44de-9f21-ac6843a2f446" xmlns:ns3="b0cdbee2-4222-4e14-b311-215d0b61546a" targetNamespace="http://schemas.microsoft.com/office/2006/metadata/properties" ma:root="true" ma:fieldsID="4740a23b158f85b9ed366f9fa4900d40" ns2:_="" ns3:_="">
    <xsd:import namespace="50bfbbe5-dde2-44de-9f21-ac6843a2f446"/>
    <xsd:import namespace="b0cdbee2-4222-4e14-b311-215d0b61546a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fbbe5-dde2-44de-9f21-ac6843a2f446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8" nillable="true" ma:displayName="Estado de aprobación" ma:internalName="_x0024_Resources_x003a_core_x002c_Signoff_Status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4429b54d-e9e7-41b6-9f31-d533a3fc48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dbee2-4222-4e14-b311-215d0b61546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f57fb9d6-4397-45c1-bdfd-d845267ddb3b}" ma:internalName="TaxCatchAll" ma:showField="CatchAllData" ma:web="b0cdbee2-4222-4e14-b311-215d0b6154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33A43-AEBE-4109-B832-58A052D63347}">
  <ds:schemaRefs>
    <ds:schemaRef ds:uri="http://schemas.microsoft.com/office/2006/metadata/properties"/>
    <ds:schemaRef ds:uri="http://schemas.microsoft.com/office/infopath/2007/PartnerControls"/>
    <ds:schemaRef ds:uri="50bfbbe5-dde2-44de-9f21-ac6843a2f446"/>
    <ds:schemaRef ds:uri="b0cdbee2-4222-4e14-b311-215d0b61546a"/>
  </ds:schemaRefs>
</ds:datastoreItem>
</file>

<file path=customXml/itemProps2.xml><?xml version="1.0" encoding="utf-8"?>
<ds:datastoreItem xmlns:ds="http://schemas.openxmlformats.org/officeDocument/2006/customXml" ds:itemID="{C78EAD66-CE0E-42D6-A588-B25DD86FC4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bfbbe5-dde2-44de-9f21-ac6843a2f446"/>
    <ds:schemaRef ds:uri="b0cdbee2-4222-4e14-b311-215d0b6154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9A68205-729D-46B8-BB15-9217996CC6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4</Template>
  <TotalTime>3157</TotalTime>
  <Words>270</Words>
  <Application>Microsoft Office PowerPoint</Application>
  <PresentationFormat>Panorámica</PresentationFormat>
  <Paragraphs>45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Poppins</vt:lpstr>
      <vt:lpstr>Poppins SemiBold</vt:lpstr>
      <vt:lpstr>Theme 4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Zaira  Hurtado Gonzalez</cp:lastModifiedBy>
  <cp:revision>175</cp:revision>
  <dcterms:created xsi:type="dcterms:W3CDTF">2024-09-12T04:54:02Z</dcterms:created>
  <dcterms:modified xsi:type="dcterms:W3CDTF">2025-04-16T15:39:15Z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0x0101002FF15AC727A08C4391800AEE1B292066</vt:lpwstr>
  </property>
  <property fmtid="{D5CDD505-2E9C-101B-9397-08002B2CF9AE}" pid="3" name="MediaServiceImageTags">
    <vt:lpwstr/>
  </property>
</Properties>
</file>